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C9A44C">
              <a:alpha val="18000"/>
            </a:srgbClr>
          </a:solidFill>
          <a:ln w="12700">
            <a:solidFill>
              <a:srgbClr val="C9A44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AI-Ready Curriculum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มหาวิทยาลัยกรุงเทพ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34015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คู่มือการใช้งานสำหรับคณาจารย์และผู้บริหารคณะ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44C">
              <a:alpha val="80000"/>
            </a:srgbClr>
          </a:solidFill>
          <a:ln w="12700">
            <a:solidFill>
              <a:srgbClr val="C9A44C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aiready.bu.ac.th  |  Academic Year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AI-Ready Curriculum คืออะไร?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97480" cy="361188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97480" cy="201168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417320"/>
            <a:ext cx="777240" cy="777240"/>
          </a:xfrm>
          <a:prstGeom prst="ellipse">
            <a:avLst/>
          </a:prstGeom>
          <a:solidFill>
            <a:srgbClr val="1A4F8A">
              <a:alpha val="12000"/>
            </a:srgbClr>
          </a:solidFill>
          <a:ln w="12700">
            <a:solidFill>
              <a:srgbClr val="1A4F8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ยื่นขออนุมัติ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หลักสูตร AI-Ready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320040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อาจารย์ยื่นข้อมูลหลักสูตรผ่านแบบฟอร์มออนไลน์ พร้อมระบุข้อมูลคณะ หลักสูตร และผู้รับผิดชอบ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361188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97480" cy="201168"/>
          </a:xfrm>
          <a:prstGeom prst="rect">
            <a:avLst/>
          </a:prstGeom>
          <a:solidFill>
            <a:srgbClr val="2D6CB0"/>
          </a:solidFill>
          <a:ln w="12700">
            <a:solidFill>
              <a:srgbClr val="2D6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417320"/>
            <a:ext cx="777240" cy="777240"/>
          </a:xfrm>
          <a:prstGeom prst="ellipse">
            <a:avLst/>
          </a:prstGeom>
          <a:solidFill>
            <a:srgbClr val="2D6CB0">
              <a:alpha val="12000"/>
            </a:srgbClr>
          </a:solidFill>
          <a:ln w="12700">
            <a:solidFill>
              <a:srgbClr val="2D6CB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แมพสมรรถนะ 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รายวิชา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320040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เชื่อมโยงรายวิชาเข้ากับ UNESCO AI Competency Framework และสมรรถนะจากภาคการศึกษา-อุตสาหกรรม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97480" cy="361188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43000"/>
            <a:ext cx="2697480" cy="201168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417320"/>
            <a:ext cx="777240" cy="777240"/>
          </a:xfrm>
          <a:prstGeom prst="ellipse">
            <a:avLst/>
          </a:prstGeom>
          <a:solidFill>
            <a:srgbClr val="C9A44C">
              <a:alpha val="12000"/>
            </a:srgbClr>
          </a:solidFill>
          <a:ln w="12700">
            <a:solidFill>
              <a:srgbClr val="C9A44C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ติดตามสถานะ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ผ่านระบบออนไลน์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45352" y="3200400"/>
            <a:ext cx="2359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ตรวจสอบความคืบหน้าการอนุมัติ รับการแจ้งเตือนทาง Email เมื่อสถานะเปลี่ยนแปลง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ภาพรวมขั้นตอนการใช้งานระบบ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64792" y="2350008"/>
            <a:ext cx="265176" cy="54864"/>
          </a:xfrm>
          <a:prstGeom prst="rect">
            <a:avLst/>
          </a:prstGeom>
          <a:solidFill>
            <a:srgbClr val="677889"/>
          </a:solidFill>
          <a:ln w="12700">
            <a:solidFill>
              <a:srgbClr val="6778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56816" y="22128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1463040" cy="146304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321868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เข้าสู่ระบบ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47872" y="2350008"/>
            <a:ext cx="265176" cy="54864"/>
          </a:xfrm>
          <a:prstGeom prst="rect">
            <a:avLst/>
          </a:prstGeom>
          <a:solidFill>
            <a:srgbClr val="677889"/>
          </a:solidFill>
          <a:ln w="12700">
            <a:solidFill>
              <a:srgbClr val="6778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22128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1645920"/>
            <a:ext cx="1463040" cy="1463040"/>
          </a:xfrm>
          <a:prstGeom prst="ellipse">
            <a:avLst/>
          </a:prstGeom>
          <a:solidFill>
            <a:srgbClr val="2D6CB0"/>
          </a:solidFill>
          <a:ln w="12700">
            <a:solidFill>
              <a:srgbClr val="2D6C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65960" y="321868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ยื่นแบบฟอร์ม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ขออนุมัติ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30952" y="2350008"/>
            <a:ext cx="265176" cy="54864"/>
          </a:xfrm>
          <a:prstGeom prst="rect">
            <a:avLst/>
          </a:prstGeom>
          <a:solidFill>
            <a:srgbClr val="677889"/>
          </a:solidFill>
          <a:ln w="12700">
            <a:solidFill>
              <a:srgbClr val="6778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2976" y="22128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1645920"/>
            <a:ext cx="1463040" cy="1463040"/>
          </a:xfrm>
          <a:prstGeom prst="ellipse">
            <a:avLst/>
          </a:prstGeom>
          <a:solidFill>
            <a:srgbClr val="28A0C8"/>
          </a:solidFill>
          <a:ln w="12700">
            <a:solidFill>
              <a:srgbClr val="28A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749040" y="321868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14032" y="2350008"/>
            <a:ext cx="265176" cy="54864"/>
          </a:xfrm>
          <a:prstGeom prst="rect">
            <a:avLst/>
          </a:prstGeom>
          <a:solidFill>
            <a:srgbClr val="677889"/>
          </a:solidFill>
          <a:ln w="12700">
            <a:solidFill>
              <a:srgbClr val="6778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06056" y="22128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23560" y="1645920"/>
            <a:ext cx="1463040" cy="1463040"/>
          </a:xfrm>
          <a:prstGeom prst="ellipse">
            <a:avLst/>
          </a:prstGeom>
          <a:solidFill>
            <a:srgbClr val="1E8A70"/>
          </a:solidFill>
          <a:ln w="12700">
            <a:solidFill>
              <a:srgbClr val="1E8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532120" y="321868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1645920"/>
            <a:ext cx="1463040" cy="1463040"/>
          </a:xfrm>
          <a:prstGeom prst="ellipse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184708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0" y="321868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รอผลการ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ระบบส่งอีเมลแจ้งผลการอนุมัติโดยอัตโนมัติ เมื่อผู้อนุมัติดำเนินการแล้วเสร็จ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1 — เข้าสู่ระบบ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3520440"/>
          </a:xfrm>
          <a:prstGeom prst="rect">
            <a:avLst/>
          </a:prstGeom>
          <a:solidFill>
            <a:srgbClr val="133A66"/>
          </a:solidFill>
          <a:ln w="12700">
            <a:solidFill>
              <a:srgbClr val="133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สำหรับเข้าใช้งาน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383280" cy="594360"/>
          </a:xfrm>
          <a:prstGeom prst="rect">
            <a:avLst/>
          </a:prstGeom>
          <a:solidFill>
            <a:srgbClr val="C9A44C">
              <a:alpha val="85000"/>
            </a:srgbClr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aiready.bu.ac.th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เปิดผ่าน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 Chrome</a:t>
            </a:r>
            <a:pPr algn="ctr" indent="0" marL="0">
              <a:buNone/>
            </a:pPr>
            <a:r>
              <a:rPr lang="en-US" sz="12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หรือ Edge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502920" cy="50292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เลือกชื่อคณะของท่าน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จากเมนู drop-down ที่หน้าแรก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กรอกรหัสผ่านของคณะ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ติดต่อฝ่ายระบบสารสนเทศเพื่อขอรหัส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502920" cy="502920"/>
          </a:xfrm>
          <a:prstGeom prst="ellipse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'เข้าสู่ระบบ'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ระบบจะพาท่านไปยังหน้าหลักของคณะ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434840"/>
            <a:ext cx="4297680" cy="548640"/>
          </a:xfrm>
          <a:prstGeom prst="rect">
            <a:avLst/>
          </a:prstGeom>
          <a:solidFill>
            <a:srgbClr val="FCF3E1"/>
          </a:solidFill>
          <a:ln w="12700">
            <a:solidFill>
              <a:srgbClr val="A86A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หากลืมรหัสผ่าน กรุณาติดต่อเจ้าหน้าที่ฝ่าย ICT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2 — ยื่นแบบฟอร์มขออนุมัติ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6276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ข้อมูลหลักสูตร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ชื่อคณะ และชื่อหลักสูตร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ชื่อผู้รับผิดชอบ และอีเมล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กรอบมาตรฐาน (Framework)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และกลุ่มอุตสาหกรรม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2D6CB0"/>
          </a:solidFill>
          <a:ln w="12700">
            <a:solidFill>
              <a:srgbClr val="2D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15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16276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สมรรถนะ AI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ชื่อสมรรถนะ AI ของคณะ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แหล่งอ้างอิง (สถาบัน/อุตสาหกรรม)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จำนวนปีที่ใช้งาน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คำอธิบายสมรรถนะ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EEF1F6"/>
          </a:solidFill>
          <a:ln w="12700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15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ขั้นที่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62763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ตรวจสอบและส่ง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69748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ตรวจสอบข้อมูลทั้งหมด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แก้ไขหากพบข้อผิดพลาด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 'ยืนยันการส่ง'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รอรับอีเมลยืนยัน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3 — Layer 1: UNESCO AI Competency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แมพแต่ละรายวิชาเข้ากับ 4 มิติของ UNESCO AI Competency Framework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60520" cy="1508760"/>
          </a:xfrm>
          <a:prstGeom prst="rect">
            <a:avLst/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13716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1554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21214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มุมมองมนุษย์เป็นศูนย์กลาง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จริยธรรมและความรับผิดชอบ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160520" cy="150876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63040"/>
            <a:ext cx="137160" cy="1508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874520"/>
            <a:ext cx="502920" cy="5029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0408" y="1554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0408" y="21214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จริยธรรม ความเป็นส่วนตัว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ความยุติธรรมและความโปร่งใส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154680"/>
            <a:ext cx="4160520" cy="150876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54680"/>
            <a:ext cx="137160" cy="1508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38130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เทคนิค Machine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การประยุกต์ใช้ AI ในสาขา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4160520" cy="15087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154680"/>
            <a:ext cx="137160" cy="1508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56616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0408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50408" y="38130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การออกแบบและพัฒนา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 อย่างเป็นระบบ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ระดับการใช้ AI ต่อรายวิชา: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31720" y="4700016"/>
            <a:ext cx="1600200" cy="329184"/>
          </a:xfrm>
          <a:prstGeom prst="rect">
            <a:avLst/>
          </a:prstGeom>
          <a:solidFill>
            <a:srgbClr val="E6F4EC"/>
          </a:solidFill>
          <a:ln w="12700">
            <a:solidFill>
              <a:srgbClr val="13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47000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Free Zone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50792" y="4700016"/>
            <a:ext cx="1600200" cy="329184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0792" y="47000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9864" y="4700016"/>
            <a:ext cx="1600200" cy="329184"/>
          </a:xfrm>
          <a:prstGeom prst="rect">
            <a:avLst/>
          </a:prstGeom>
          <a:solidFill>
            <a:srgbClr val="FCF3E1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9864" y="47000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88936" y="4700016"/>
            <a:ext cx="1600200" cy="329184"/>
          </a:xfrm>
          <a:prstGeom prst="rect">
            <a:avLst/>
          </a:prstGeom>
          <a:solidFill>
            <a:srgbClr val="FDEAEA"/>
          </a:solidFill>
          <a:ln w="12700">
            <a:solidFill>
              <a:srgbClr val="B5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8936" y="470001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4 — Layer 2: School &amp; Industry Mapping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เชื่อมโยงรายวิชากับสมรรถนะของสถาบัน (School) และภาคอุตสาหกรรม (Industry)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206240" cy="3383280"/>
          </a:xfrm>
          <a:prstGeom prst="rect">
            <a:avLst/>
          </a:prstGeom>
          <a:solidFill>
            <a:srgbClr val="EEF4FB"/>
          </a:solidFill>
          <a:ln w="1905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206240" cy="5029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81328"/>
            <a:ext cx="3986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School Competency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สมรรถนะที่กำหนดโดยสถาบัน / มหาวิทยาลัย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เลือกสมรรถนะที่รายวิชาสนับสนุน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ระบุรายวิชา, ปีที่เปิดสอน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AI Tool ที่ใช้ในรายวิชา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กำหนดระดับการใช้ AI (Usage Level)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206240" cy="3383280"/>
          </a:xfrm>
          <a:prstGeom prst="rect">
            <a:avLst/>
          </a:prstGeom>
          <a:solidFill>
            <a:srgbClr val="E8F5EE"/>
          </a:solidFill>
          <a:ln w="19050">
            <a:solidFill>
              <a:srgbClr val="1E7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4206240" cy="502920"/>
          </a:xfrm>
          <a:prstGeom prst="rect">
            <a:avLst/>
          </a:prstGeom>
          <a:solidFill>
            <a:srgbClr val="1E7A5A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81328"/>
            <a:ext cx="3986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Industry Competency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สมรรถนะที่ต้องการโดยภาคอุตสาหกรรม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เลือกกลุ่มอุตสาหกรรม (Sector)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ระบุรายวิชา, ปีที่เปิดสอน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AI Tool ที่ใช้ในรายวิชา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กำหนดระดับการใช้ AI (Usage Level)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ข้อมูลทั้งสองเลเยอร์จะถูกรวบรวมเพื่อประเมินความ AI-Ready ของหลักสูตร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ติดตามสถานะการยื่นขออนุมัติ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หน้าหลักของระบบ (/submit) แสดงรายการหลักสูตรทั้งหมดพร้อมสถานะปัจจุบัน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1993392" cy="3200400"/>
          </a:xfrm>
          <a:prstGeom prst="rect">
            <a:avLst/>
          </a:prstGeom>
          <a:solidFill>
            <a:srgbClr val="EEF1F6"/>
          </a:solidFill>
          <a:ln w="19050">
            <a:solidFill>
              <a:srgbClr val="67788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6192"/>
            <a:ext cx="1993392" cy="201168"/>
          </a:xfrm>
          <a:prstGeom prst="rect">
            <a:avLst/>
          </a:prstGeom>
          <a:solidFill>
            <a:srgbClr val="677889"/>
          </a:solidFill>
          <a:ln w="12700">
            <a:solidFill>
              <a:srgbClr val="6778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92024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677889"/>
          </a:solidFill>
          <a:ln w="12700">
            <a:solidFill>
              <a:srgbClr val="6778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แบบร่าง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" y="2953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บันทึกไว้ ยังไม่ส่ง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1536192"/>
            <a:ext cx="1993392" cy="3200400"/>
          </a:xfrm>
          <a:prstGeom prst="rect">
            <a:avLst/>
          </a:prstGeom>
          <a:solidFill>
            <a:srgbClr val="EEF4FB"/>
          </a:solidFill>
          <a:ln w="19050">
            <a:solidFill>
              <a:srgbClr val="1A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536192"/>
            <a:ext cx="1993392" cy="201168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98648" y="192024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8648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4328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รอการพิจารณา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24328" y="2953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ส่งแล้ว อยู่ระหว่างพิจารณา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18304" y="1536192"/>
            <a:ext cx="1993392" cy="3200400"/>
          </a:xfrm>
          <a:prstGeom prst="rect">
            <a:avLst/>
          </a:prstGeom>
          <a:solidFill>
            <a:srgbClr val="E6F4EC"/>
          </a:solidFill>
          <a:ln w="19050">
            <a:solidFill>
              <a:srgbClr val="13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536192"/>
            <a:ext cx="1993392" cy="201168"/>
          </a:xfrm>
          <a:prstGeom prst="rect">
            <a:avLst/>
          </a:prstGeom>
          <a:solidFill>
            <a:srgbClr val="137A4A"/>
          </a:solidFill>
          <a:ln w="12700">
            <a:solidFill>
              <a:srgbClr val="137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192024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137A4A"/>
          </a:solidFill>
          <a:ln w="12700">
            <a:solidFill>
              <a:srgbClr val="13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อนุมัติแล้ว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2953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ผ่านการอนุมัติ เรียบร้อย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94576" y="1536192"/>
            <a:ext cx="1993392" cy="3200400"/>
          </a:xfrm>
          <a:prstGeom prst="rect">
            <a:avLst/>
          </a:prstGeom>
          <a:solidFill>
            <a:srgbClr val="FCF3E1"/>
          </a:solidFill>
          <a:ln w="19050">
            <a:solidFill>
              <a:srgbClr val="A86A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1536192"/>
            <a:ext cx="1993392" cy="201168"/>
          </a:xfrm>
          <a:prstGeom prst="rect">
            <a:avLst/>
          </a:prstGeom>
          <a:solidFill>
            <a:srgbClr val="A86A14"/>
          </a:solidFill>
          <a:ln w="12700">
            <a:solidFill>
              <a:srgbClr val="A86A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192" y="192024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A86A14"/>
          </a:solidFill>
          <a:ln w="12700">
            <a:solidFill>
              <a:srgbClr val="A86A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76872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ขอแก้ไข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76872" y="2953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ผู้อนุมัติขอให้ปรับปรุง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690872"/>
            <a:ext cx="8412480" cy="384048"/>
          </a:xfrm>
          <a:prstGeom prst="rect">
            <a:avLst/>
          </a:prstGeom>
          <a:solidFill>
            <a:srgbClr val="E6F4EC"/>
          </a:solidFill>
          <a:ln w="12700">
            <a:solidFill>
              <a:srgbClr val="13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00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ระบบส่งอีเมลแจ้งเตือนอัตโนมัติทุกครั้งที่สถานะเปลี่ยนแปลง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56032" cy="256032"/>
          </a:xfrm>
          <a:prstGeom prst="ellipse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9728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เข้าใช้งานได้ที่  aiready.bu.ac.th  ด้วยรหัสผ่านของคณะ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56032" cy="256032"/>
          </a:xfrm>
          <a:prstGeom prst="ellipse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0195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ยื่นแบบฟอร์มหลักสูตร AI-Ready แบบ 3 ขั้นตอน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724912"/>
            <a:ext cx="256032" cy="256032"/>
          </a:xfrm>
          <a:prstGeom prst="ellipse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0662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แมพรายวิชากับ UNESCO Framework (Layer 1) และ School/Industry (Layer 2)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" y="3529584"/>
            <a:ext cx="256032" cy="256032"/>
          </a:xfrm>
          <a:prstGeom prst="ellipse">
            <a:avLst/>
          </a:prstGeom>
          <a:solidFill>
            <a:srgbClr val="C9A44C"/>
          </a:solidFill>
          <a:ln w="12700">
            <a:solidFill>
              <a:srgbClr val="C9A4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51129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ติดตามสถานะและรับอีเมลแจ้งผลการอนุมัติ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434840"/>
            <a:ext cx="4114800" cy="566928"/>
          </a:xfrm>
          <a:prstGeom prst="rect">
            <a:avLst/>
          </a:prstGeom>
          <a:solidFill>
            <a:srgbClr val="C9A44C">
              <a:alpha val="85000"/>
            </a:srgbClr>
          </a:solidFill>
          <a:ln w="25400">
            <a:solidFill>
              <a:srgbClr val="C9A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45312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aiready.bu.ac.th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 — Bangkok University AI Office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AI-Ready Curriculum</dc:title>
  <dc:subject>PptxGenJS Presentation</dc:subject>
  <dc:creator>Bangkok University</dc:creator>
  <cp:lastModifiedBy>Bangkok University</cp:lastModifiedBy>
  <cp:revision>1</cp:revision>
  <dcterms:created xsi:type="dcterms:W3CDTF">2026-05-31T10:44:37Z</dcterms:created>
  <dcterms:modified xsi:type="dcterms:W3CDTF">2026-05-31T10:44:37Z</dcterms:modified>
</cp:coreProperties>
</file>